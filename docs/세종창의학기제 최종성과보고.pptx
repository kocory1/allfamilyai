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2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82" r:id="rId3"/>
    <p:sldId id="274" r:id="rId4"/>
    <p:sldId id="283" r:id="rId5"/>
    <p:sldId id="276" r:id="rId6"/>
    <p:sldId id="284" r:id="rId7"/>
    <p:sldId id="285" r:id="rId8"/>
    <p:sldId id="275" r:id="rId9"/>
    <p:sldId id="272" r:id="rId10"/>
    <p:sldId id="273" r:id="rId11"/>
  </p:sldIdLst>
  <p:sldSz cx="12192000" cy="6858000"/>
  <p:notesSz cx="9939338" cy="68072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46" autoAdjust="0"/>
    <p:restoredTop sz="94706" autoAdjust="0"/>
  </p:normalViewPr>
  <p:slideViewPr>
    <p:cSldViewPr snapToGrid="0">
      <p:cViewPr>
        <p:scale>
          <a:sx n="93" d="100"/>
          <a:sy n="93" d="100"/>
        </p:scale>
        <p:origin x="-128" y="1120"/>
      </p:cViewPr>
      <p:guideLst>
        <p:guide orient="horz" pos="2158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0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6" cy="341542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9992" y="1"/>
            <a:ext cx="4307046" cy="341542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 rtl="0">
              <a:defRPr/>
            </a:pPr>
            <a:fld id="{4F6CC08C-0E47-404A-9C27-EA1B4EE4C7CA}" type="datetime4">
              <a:rPr lang="ko-KR" altLang="en-US">
                <a:latin typeface="맑은 고딕"/>
                <a:ea typeface="맑은 고딕"/>
              </a:rPr>
              <a:pPr lvl="0" rtl="0">
                <a:defRPr/>
              </a:pPr>
              <a:t>2025년 12월 5일</a:t>
            </a:fld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9992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 rtl="0">
              <a:defRPr/>
            </a:pPr>
            <a:fld id="{1604A0D4-B89B-4ADD-AF9E-38636B40EE4E}" type="slidenum">
              <a:rPr lang="en-US" altLang="ko-KR">
                <a:latin typeface="맑은 고딕"/>
                <a:ea typeface="맑은 고딕"/>
              </a:rPr>
              <a:pPr lvl="0" rtl="0">
                <a:defRPr/>
              </a:pPr>
              <a:t>‹#›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6" cy="341542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9992" y="1"/>
            <a:ext cx="4307046" cy="341542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BE16EC8A-0758-4FA9-BF4D-3119057076D1}" type="datetime4">
              <a:rPr lang="ko-KR" altLang="en-US"/>
              <a:pPr lvl="0">
                <a:defRPr/>
              </a:pPr>
              <a:t>2025년 12월 5일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 rt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75966"/>
            <a:ext cx="7951470" cy="229743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 rtl="0">
              <a:defRPr/>
            </a:pPr>
            <a:r>
              <a:rPr lang="ko-KR" altLang="en-US"/>
              <a:t>마스터 텍스트 스타일을 편집하려면 클릭하세요</a:t>
            </a:r>
            <a:r>
              <a:rPr lang="en-US" altLang="ko-KR"/>
              <a:t>.</a:t>
            </a:r>
          </a:p>
          <a:p>
            <a:pPr lvl="1" rtl="0">
              <a:defRPr/>
            </a:pPr>
            <a:r>
              <a:rPr lang="ko-KR" altLang="en-US"/>
              <a:t>둘째 수준</a:t>
            </a:r>
          </a:p>
          <a:p>
            <a:pPr lvl="2" rtl="0">
              <a:defRPr/>
            </a:pPr>
            <a:r>
              <a:rPr lang="ko-KR" altLang="en-US"/>
              <a:t>셋째 수준</a:t>
            </a:r>
          </a:p>
          <a:p>
            <a:pPr lvl="3" rtl="0">
              <a:defRPr/>
            </a:pPr>
            <a:r>
              <a:rPr lang="ko-KR" altLang="en-US"/>
              <a:t>넷째 수준</a:t>
            </a:r>
          </a:p>
          <a:p>
            <a:pPr lvl="4" rtl="0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9992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82869989-EB00-4EE7-BCB5-25BDC5BB29F8}" type="slidenum">
              <a:rPr lang="en-US" altLang="ko-KR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1</a:t>
            </a:fld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9E84-BCF9-AF4D-6241-9915F9C5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9CDCE4-17AC-7658-2903-ECC464E4EB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C31651-512E-B5CD-59E4-47C303563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AD298-936B-0FC9-FCE4-04C01171B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2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77702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3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78701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009F-2865-12D8-B60A-33D5C4F8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A89C20-CD9C-B273-40D7-B1B3002E85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60D37B-1FFA-3101-7D64-20145158C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B51C7E-9F57-3959-FB31-BCDE4CB68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4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90353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5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43560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93EBD-0C03-1835-3D3D-C774DCF9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C9D83C-D0C4-5885-4750-DCF4FE183C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4264B2-B926-6329-72FC-16842ACD5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9B7746-F490-AE59-5315-AF691908D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6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53216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C7559-9B2B-C572-3674-C004E8BF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B13669-1587-B028-1D59-9F0CC21230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11086C-BA58-479F-C5FD-A28D4E403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F9A7E2-1D81-FBEF-DE90-F4B732B7A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7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67268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8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2434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9</a:t>
            </a:fld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>
              <a:defRPr/>
            </a:pPr>
            <a:fld id="{82869989-EB00-4EE7-BCB5-25BDC5BB29F8}" type="slidenum">
              <a:rPr lang="en-US" altLang="ko-KR">
                <a:latin typeface="맑은 고딕"/>
                <a:ea typeface="맑은 고딕"/>
              </a:rPr>
              <a:pPr rtl="0">
                <a:defRPr/>
              </a:pPr>
              <a:t>10</a:t>
            </a:fld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그룹 12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4" name="직선 연결선 13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그룹 29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8" name="직선 연결선 4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그룹 5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9" name="직선 연결선 5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연결선 5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연결선 6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직선 연결선 6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직선 연결선 5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30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2" name="직선 연결선 3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그룹 3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3" name="직선 연결선 4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 4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 4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8" name="직선 연결선 3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4" name="직선 연결선 63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12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5419DA-7218-42E5-A443-F000500111E1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86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" name="그룹 21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3" name="직선 연결선 22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7" name="직선 연결선 5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그룹 6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8" name="직선 연결선 6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3" name="직선 연결선 6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그룹 39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1" name="직선 연결선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그룹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직선 연결선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직선 연결선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3" name="직선 연결선 72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25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071963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1FFC-F755-4558-8D3C-A157D1A01A8A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6330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A2A33C0-A4A8-4C90-B6DA-35B8CF58C816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4413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35401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96A3-957C-4113-A568-B6ED9AEA3D01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grpSp>
        <p:nvGrpSpPr>
          <p:cNvPr id="23" name="그룹 22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4" name="직선 연결선 23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그룹 39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8" name="직선 연결선 5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" name="그룹 6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9" name="직선 연결선 6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4" name="직선 연결선 6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그룹 40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2" name="직선 연결선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그룹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직선 연결선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직선 연결선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직사각형 73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5" name="직선 연결선 74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13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3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89566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197890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880166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008507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881387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689818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A5B65E4-62A8-4988-B07B-5D6D443B14ED}" type="datetime4">
              <a:rPr lang="ko-KR" altLang="en-US" smtClean="0"/>
              <a:t>2025년 12월 5일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278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8EB6286-0DE7-4336-9826-977AD102FCF2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4187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8BEB146-D335-4DA5-9826-58595BCDBE2E}" type="datetime4">
              <a:rPr lang="ko-KR" altLang="en-US" noProof="0" smtClean="0"/>
              <a:t>2025년 12월 5일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ko-KR" altLang="en-US" noProof="0"/>
              <a:t>바닥글 추가</a:t>
            </a:r>
            <a:endParaRPr lang="ko-KR" altLang="en-US" noProof="0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grpSp>
        <p:nvGrpSpPr>
          <p:cNvPr id="22" name="그룹 21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23" name="직선 연결선 22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7" name="직선 연결선 5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그룹 6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8" name="직선 연결선 6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3" name="직선 연결선 6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그룹 39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1" name="직선 연결선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그룹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직선 연결선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직선 연결선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3" name="직선 연결선 72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92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922" r:id="rId13"/>
    <p:sldLayoutId id="2147483923" r:id="rId14"/>
    <p:sldLayoutId id="2147483924" r:id="rId15"/>
    <p:sldLayoutId id="2147483925" r:id="rId16"/>
    <p:sldLayoutId id="214748392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64479" y="935568"/>
            <a:ext cx="8761413" cy="706964"/>
          </a:xfrm>
        </p:spPr>
        <p:txBody>
          <a:bodyPr/>
          <a:lstStyle/>
          <a:p>
            <a:pPr lvl="0">
              <a:lnSpc>
                <a:spcPct val="140000"/>
              </a:lnSpc>
              <a:spcBef>
                <a:spcPts val="0"/>
              </a:spcBef>
              <a:buClr>
                <a:schemeClr val="bg1"/>
              </a:buClr>
              <a:buNone/>
              <a:defRPr/>
            </a:pPr>
            <a:r>
              <a:rPr lang="en-US" altLang="ko-KR" sz="2600" dirty="0">
                <a:solidFill>
                  <a:schemeClr val="bg1"/>
                </a:solidFill>
                <a:latin typeface="맑은 고딕"/>
                <a:ea typeface="맑은 고딕"/>
              </a:rPr>
              <a:t>2025-2</a:t>
            </a:r>
            <a:r>
              <a:rPr lang="ko-KR" altLang="en-US" sz="2600" dirty="0">
                <a:solidFill>
                  <a:schemeClr val="bg1"/>
                </a:solidFill>
                <a:latin typeface="맑은 고딕"/>
                <a:ea typeface="맑은 고딕"/>
              </a:rPr>
              <a:t>학기 </a:t>
            </a:r>
            <a:r>
              <a:rPr lang="ko-KR" altLang="en-US" sz="2600" dirty="0" err="1">
                <a:solidFill>
                  <a:schemeClr val="bg1"/>
                </a:solidFill>
                <a:latin typeface="맑은 고딕"/>
                <a:ea typeface="맑은 고딕"/>
              </a:rPr>
              <a:t>세종창의학기제</a:t>
            </a:r>
            <a:r>
              <a:rPr lang="ko-KR" altLang="en-US" sz="2600" dirty="0">
                <a:solidFill>
                  <a:schemeClr val="bg1"/>
                </a:solidFill>
                <a:latin typeface="맑은 고딕"/>
                <a:ea typeface="맑은 고딕"/>
              </a:rPr>
              <a:t> 최종성과보고</a:t>
            </a:r>
            <a:br>
              <a:rPr lang="ko-KR" altLang="en-US" sz="3200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ko-KR" altLang="en-US" sz="3200" dirty="0">
                <a:solidFill>
                  <a:schemeClr val="bg1"/>
                </a:solidFill>
                <a:latin typeface="맑은 고딕"/>
                <a:ea typeface="맑은 고딕"/>
              </a:rPr>
              <a:t>창의과제</a:t>
            </a:r>
            <a:r>
              <a:rPr lang="en-US" altLang="ko-KR" sz="3200" dirty="0">
                <a:solidFill>
                  <a:schemeClr val="bg1"/>
                </a:solidFill>
                <a:latin typeface="맑은 고딕"/>
                <a:ea typeface="맑은 고딕"/>
              </a:rPr>
              <a:t>: </a:t>
            </a:r>
            <a:r>
              <a:rPr lang="ko-KR" altLang="en-US" sz="2300" dirty="0">
                <a:solidFill>
                  <a:schemeClr val="bg1"/>
                </a:solidFill>
                <a:latin typeface="맑은 고딕"/>
                <a:ea typeface="맑은 고딕"/>
              </a:rPr>
              <a:t>질문 한 줄로 하루 </a:t>
            </a:r>
            <a:r>
              <a:rPr lang="en-US" altLang="ko-KR" sz="2300" dirty="0">
                <a:solidFill>
                  <a:schemeClr val="bg1"/>
                </a:solidFill>
                <a:latin typeface="맑은 고딕"/>
                <a:ea typeface="맑은 고딕"/>
              </a:rPr>
              <a:t>5</a:t>
            </a:r>
            <a:r>
              <a:rPr lang="ko-KR" altLang="en-US" sz="2300" dirty="0">
                <a:solidFill>
                  <a:schemeClr val="bg1"/>
                </a:solidFill>
                <a:latin typeface="맑은 고딕"/>
                <a:ea typeface="맑은 고딕"/>
              </a:rPr>
              <a:t>분</a:t>
            </a:r>
            <a:r>
              <a:rPr lang="en-US" altLang="ko-KR" sz="2300" dirty="0">
                <a:solidFill>
                  <a:schemeClr val="bg1"/>
                </a:solidFill>
                <a:latin typeface="맑은 고딕"/>
                <a:ea typeface="맑은 고딕"/>
              </a:rPr>
              <a:t>,</a:t>
            </a:r>
            <a:r>
              <a:rPr lang="ko-KR" altLang="en-US" sz="2300" dirty="0">
                <a:solidFill>
                  <a:schemeClr val="bg1"/>
                </a:solidFill>
                <a:latin typeface="맑은 고딕"/>
                <a:ea typeface="맑은 고딕"/>
              </a:rPr>
              <a:t> 가족다운 순간을 되찾는 </a:t>
            </a:r>
            <a:br>
              <a:rPr lang="en-US" altLang="ko-KR" sz="2300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ko-KR" altLang="en-US" sz="2300" dirty="0">
                <a:solidFill>
                  <a:schemeClr val="bg1"/>
                </a:solidFill>
                <a:latin typeface="맑은 고딕"/>
                <a:ea typeface="맑은 고딕"/>
              </a:rPr>
              <a:t>                   모바일 앱 기반 플랫폼 구축</a:t>
            </a:r>
            <a:endParaRPr lang="ko-KR" altLang="en-US" sz="32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8528" y="2646392"/>
            <a:ext cx="9601200" cy="2474421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>
                <a:latin typeface="맑은 고딕"/>
                <a:ea typeface="맑은 고딕"/>
              </a:rPr>
              <a:t>과목명</a:t>
            </a:r>
            <a:r>
              <a:rPr lang="en-US" altLang="ko-KR" dirty="0">
                <a:latin typeface="맑은 고딕"/>
                <a:ea typeface="맑은 고딕"/>
              </a:rPr>
              <a:t>(</a:t>
            </a:r>
            <a:r>
              <a:rPr lang="ko-KR" altLang="en-US" dirty="0">
                <a:latin typeface="맑은 고딕"/>
                <a:ea typeface="맑은 고딕"/>
              </a:rPr>
              <a:t>신청 학점</a:t>
            </a:r>
            <a:r>
              <a:rPr lang="en-US" altLang="ko-KR" dirty="0">
                <a:latin typeface="맑은 고딕"/>
                <a:ea typeface="맑은 고딕"/>
              </a:rPr>
              <a:t>)</a:t>
            </a:r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자기주도창의전공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Ⅲ (3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학점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0" rtl="0">
              <a:lnSpc>
                <a:spcPct val="150000"/>
              </a:lnSpc>
              <a:defRPr/>
            </a:pPr>
            <a:r>
              <a:rPr lang="ko-KR" altLang="en-US" dirty="0"/>
              <a:t>지도교수</a:t>
            </a:r>
            <a:r>
              <a:rPr lang="en-US" altLang="ko-KR" dirty="0"/>
              <a:t>(</a:t>
            </a:r>
            <a:r>
              <a:rPr lang="ko-KR" altLang="en-US" dirty="0"/>
              <a:t>소속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임태진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교수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컴퓨터공학과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참여학생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총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명 </a:t>
            </a: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                      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</a:rPr>
              <a:t>위승재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컴퓨터공학과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21011672)</a:t>
            </a: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                      정연준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컴퓨터공학과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21011665)</a:t>
            </a: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                      박민수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</a:rPr>
              <a:t>바이오융합공학전공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21010730)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/>
          <p:cNvSpPr txBox="1"/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 dirty="0">
                <a:effectLst/>
              </a:rPr>
              <a:t>2025-2</a:t>
            </a:r>
            <a:r>
              <a:rPr lang="ko-KR" altLang="en-US" sz="1800" b="1" dirty="0">
                <a:effectLst/>
              </a:rPr>
              <a:t>학기 세종창의학기제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9D752-DFE8-8559-C944-71EFD48B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B960A-3DF1-8001-3B44-B57DEB02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defRPr/>
            </a:pPr>
            <a:r>
              <a:rPr lang="ko-KR" altLang="en-US" sz="3200" dirty="0">
                <a:latin typeface="맑은 고딕"/>
                <a:ea typeface="맑은 고딕"/>
              </a:rPr>
              <a:t>회원가입</a:t>
            </a:r>
            <a:r>
              <a:rPr lang="en-US" altLang="ko-KR" sz="3200" dirty="0">
                <a:latin typeface="맑은 고딕"/>
                <a:ea typeface="맑은 고딕"/>
              </a:rPr>
              <a:t>&amp;</a:t>
            </a:r>
            <a:r>
              <a:rPr lang="ko-KR" altLang="en-US" sz="3200" dirty="0">
                <a:latin typeface="맑은 고딕"/>
                <a:ea typeface="맑은 고딕"/>
              </a:rPr>
              <a:t>로그인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71ECF9-992B-F6BF-61F2-1D81BBF2A7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A6F6BE60-5F45-1152-F0DB-0E9614FFA7A7}"/>
              </a:ext>
            </a:extLst>
          </p:cNvPr>
          <p:cNvSpPr txBox="1">
            <a:spLocks/>
          </p:cNvSpPr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 dirty="0">
                <a:effectLst/>
              </a:rPr>
              <a:t>2025-2</a:t>
            </a:r>
            <a:r>
              <a:rPr lang="ko-KR" altLang="en-US" sz="1800" b="1" dirty="0">
                <a:effectLst/>
              </a:rPr>
              <a:t>학기 세종창의학기제</a:t>
            </a:r>
          </a:p>
        </p:txBody>
      </p:sp>
      <p:sp>
        <p:nvSpPr>
          <p:cNvPr id="11" name="가로 글상자 10">
            <a:extLst>
              <a:ext uri="{FF2B5EF4-FFF2-40B4-BE49-F238E27FC236}">
                <a16:creationId xmlns:a16="http://schemas.microsoft.com/office/drawing/2014/main" id="{34A593C4-C926-6B8B-C66C-C99F0597F5E1}"/>
              </a:ext>
            </a:extLst>
          </p:cNvPr>
          <p:cNvSpPr txBox="1"/>
          <p:nvPr/>
        </p:nvSpPr>
        <p:spPr>
          <a:xfrm>
            <a:off x="4238037" y="2256506"/>
            <a:ext cx="4991805" cy="36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5B7C97-0B6A-28C7-B8C7-934382FA7F9B}"/>
              </a:ext>
            </a:extLst>
          </p:cNvPr>
          <p:cNvSpPr/>
          <p:nvPr/>
        </p:nvSpPr>
        <p:spPr>
          <a:xfrm>
            <a:off x="8366257" y="3123908"/>
            <a:ext cx="5876478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en-US" altLang="ko-KR" sz="15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1.</a:t>
            </a:r>
            <a:r>
              <a:rPr lang="ko-KR" altLang="en-US" sz="15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</a:t>
            </a:r>
            <a:r>
              <a:rPr sz="1500" b="0" i="0" strike="noStrike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카카오</a:t>
            </a:r>
            <a:r>
              <a:rPr sz="15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OAuth </a:t>
            </a:r>
            <a:r>
              <a:rPr sz="1500" b="0" i="0" strike="noStrike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로그인</a:t>
            </a:r>
            <a:endParaRPr sz="15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r>
              <a:rPr lang="en-US" altLang="ko-KR" sz="11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-</a:t>
            </a:r>
            <a:r>
              <a:rPr lang="ko-KR" altLang="en-US" sz="11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</a:t>
            </a:r>
            <a:r>
              <a:rPr sz="1100" b="0" i="0" strike="noStrike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간편</a:t>
            </a:r>
            <a:r>
              <a:rPr sz="11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</a:t>
            </a:r>
            <a:r>
              <a:rPr sz="1100" b="0" i="0" strike="noStrike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인증</a:t>
            </a:r>
            <a:endParaRPr sz="11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r>
              <a:rPr lang="en-US" altLang="ko-KR" sz="11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-</a:t>
            </a:r>
            <a:r>
              <a:rPr lang="ko-KR" altLang="en-US" sz="11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</a:t>
            </a:r>
            <a:r>
              <a:rPr sz="1100" b="0" i="0" strike="noStrike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빠른</a:t>
            </a:r>
            <a:r>
              <a:rPr sz="11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</a:t>
            </a:r>
            <a:r>
              <a:rPr sz="1100" b="0" i="0" strike="noStrike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접근성</a:t>
            </a:r>
            <a:endParaRPr lang="en-US" sz="11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endParaRPr lang="en-US" sz="11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1.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회원가입 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(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신규 유저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)</a:t>
            </a:r>
            <a:endParaRPr lang="ko-KR" altLang="en-US" sz="15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>
              <a:defRPr/>
            </a:pPr>
            <a:r>
              <a:rPr lang="en-US" altLang="ko-KR" sz="11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-</a:t>
            </a:r>
            <a:r>
              <a:rPr lang="ko-KR" altLang="en-US" sz="11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가족 구성원 선택</a:t>
            </a:r>
          </a:p>
          <a:p>
            <a:pPr lvl="0">
              <a:defRPr/>
            </a:pPr>
            <a:r>
              <a:rPr lang="en-US" altLang="ko-KR" sz="11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-</a:t>
            </a:r>
            <a:r>
              <a:rPr lang="ko-KR" altLang="en-US" sz="11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개인 정보 입력</a:t>
            </a:r>
          </a:p>
          <a:p>
            <a:pPr lvl="0">
              <a:defRPr/>
            </a:pPr>
            <a:r>
              <a:rPr lang="en-US" altLang="ko-KR" sz="11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-</a:t>
            </a:r>
            <a:r>
              <a:rPr lang="ko-KR" altLang="en-US" sz="11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기존 가족에 참여 </a:t>
            </a:r>
            <a:r>
              <a:rPr lang="en-US" altLang="ko-KR" sz="11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or</a:t>
            </a:r>
            <a:r>
              <a:rPr lang="ko-KR" altLang="en-US" sz="11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새 가족 생성</a:t>
            </a:r>
          </a:p>
        </p:txBody>
      </p:sp>
      <p:pic>
        <p:nvPicPr>
          <p:cNvPr id="9" name="그림 8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992FDC-9538-C100-B50F-5E695ED0E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78" y="2256506"/>
            <a:ext cx="1482907" cy="3316798"/>
          </a:xfrm>
          <a:prstGeom prst="rect">
            <a:avLst/>
          </a:prstGeom>
        </p:spPr>
      </p:pic>
      <p:pic>
        <p:nvPicPr>
          <p:cNvPr id="15" name="그림 1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845E9A-8655-AF61-1848-84732FD66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2998" y="2256506"/>
            <a:ext cx="1439042" cy="3304467"/>
          </a:xfrm>
          <a:prstGeom prst="rect">
            <a:avLst/>
          </a:prstGeom>
        </p:spPr>
      </p:pic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159EC6-F746-FF1D-E19C-37D0FEA2B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553" y="2256505"/>
            <a:ext cx="1454684" cy="3304467"/>
          </a:xfrm>
          <a:prstGeom prst="rect">
            <a:avLst/>
          </a:prstGeom>
        </p:spPr>
      </p:pic>
      <p:pic>
        <p:nvPicPr>
          <p:cNvPr id="19" name="그림 1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8E35CF-C8D2-A1BF-0459-E9B4915B17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5750" y="2268836"/>
            <a:ext cx="1464091" cy="3316798"/>
          </a:xfrm>
          <a:prstGeom prst="rect">
            <a:avLst/>
          </a:prstGeom>
        </p:spPr>
      </p:pic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3912A7-52AB-1F74-9FC0-D404CA75C7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9354" y="2276093"/>
            <a:ext cx="1483121" cy="331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97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defRPr/>
            </a:pPr>
            <a:r>
              <a:rPr lang="ko-KR" altLang="en-US" sz="3200" dirty="0">
                <a:latin typeface="맑은 고딕"/>
                <a:ea typeface="맑은 고딕"/>
              </a:rPr>
              <a:t>메인 화면 </a:t>
            </a:r>
            <a:r>
              <a:rPr lang="en-US" altLang="ko-KR" sz="3200" dirty="0">
                <a:latin typeface="맑은 고딕"/>
                <a:ea typeface="맑은 고딕"/>
              </a:rPr>
              <a:t>(</a:t>
            </a:r>
            <a:r>
              <a:rPr lang="ko-KR" altLang="en-US" sz="3200" dirty="0">
                <a:latin typeface="맑은 고딕"/>
                <a:ea typeface="맑은 고딕"/>
              </a:rPr>
              <a:t>오늘의 주인공 </a:t>
            </a:r>
            <a:r>
              <a:rPr lang="en-US" altLang="ko-KR" sz="3200" dirty="0">
                <a:latin typeface="맑은 고딕"/>
                <a:ea typeface="맑은 고딕"/>
              </a:rPr>
              <a:t>O)</a:t>
            </a:r>
            <a:endParaRPr lang="ko-KR" altLang="en-US" sz="3200" dirty="0">
              <a:latin typeface="맑은 고딕"/>
              <a:ea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/>
          <p:cNvSpPr txBox="1"/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ko-KR" altLang="en-US" sz="18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>
                <a:effectLst/>
              </a:rPr>
              <a:t>2025-2</a:t>
            </a:r>
            <a:r>
              <a:rPr lang="ko-KR" altLang="en-US" sz="1800" b="1">
                <a:effectLst/>
              </a:rPr>
              <a:t>학기 세종창의학기제</a:t>
            </a:r>
            <a:endParaRPr lang="ko-KR" altLang="en-US" sz="1800" b="1"/>
          </a:p>
        </p:txBody>
      </p:sp>
      <p:sp>
        <p:nvSpPr>
          <p:cNvPr id="11" name="가로 글상자 10"/>
          <p:cNvSpPr txBox="1"/>
          <p:nvPr/>
        </p:nvSpPr>
        <p:spPr>
          <a:xfrm>
            <a:off x="4238037" y="2256506"/>
            <a:ext cx="4991805" cy="36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292578" y="3330040"/>
            <a:ext cx="5876478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 algn="l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오늘의 질문 확인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질문 확인 후 답변 생성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답변 등록 후 가족과 상호작용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등록한 답변은 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AI</a:t>
            </a:r>
            <a:r>
              <a:rPr lang="ko-KR" altLang="en-US" sz="1200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를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통해 파생질문 생성</a:t>
            </a:r>
            <a:r>
              <a:rPr lang="ko-KR" altLang="en-US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</a:t>
            </a: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95D016-39D3-C056-A0A8-4849BCFC5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41" y="2256506"/>
            <a:ext cx="1614529" cy="3627826"/>
          </a:xfrm>
          <a:prstGeom prst="rect">
            <a:avLst/>
          </a:prstGeom>
        </p:spPr>
      </p:pic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EEC140-7CAF-3ADD-0966-274A7381B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167" y="2256506"/>
            <a:ext cx="1599788" cy="3627826"/>
          </a:xfrm>
          <a:prstGeom prst="rect">
            <a:avLst/>
          </a:prstGeom>
        </p:spPr>
      </p:pic>
      <p:pic>
        <p:nvPicPr>
          <p:cNvPr id="10" name="그림 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492DF6-890B-E4BC-39D3-DD242A2DD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552" y="2256506"/>
            <a:ext cx="1629322" cy="3627826"/>
          </a:xfrm>
          <a:prstGeom prst="rect">
            <a:avLst/>
          </a:prstGeom>
        </p:spPr>
      </p:pic>
      <p:pic>
        <p:nvPicPr>
          <p:cNvPr id="14" name="그림 13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5E8F46-3A5A-F0F6-55EC-52C36E065E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4389" y="2276741"/>
            <a:ext cx="1621047" cy="362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87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0730F-3DB8-2023-C60A-B95953A3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E0A97-EE1C-24FD-8FEC-576C04DE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defRPr/>
            </a:pPr>
            <a:r>
              <a:rPr lang="ko-KR" altLang="en-US" sz="3200" dirty="0">
                <a:latin typeface="맑은 고딕"/>
                <a:ea typeface="맑은 고딕"/>
              </a:rPr>
              <a:t>메인 화면 </a:t>
            </a:r>
            <a:r>
              <a:rPr lang="en-US" altLang="ko-KR" sz="3200" dirty="0">
                <a:latin typeface="맑은 고딕"/>
                <a:ea typeface="맑은 고딕"/>
              </a:rPr>
              <a:t>(</a:t>
            </a:r>
            <a:r>
              <a:rPr lang="ko-KR" altLang="en-US" sz="3200" dirty="0">
                <a:latin typeface="맑은 고딕"/>
                <a:ea typeface="맑은 고딕"/>
              </a:rPr>
              <a:t>오늘의 주인공 </a:t>
            </a:r>
            <a:r>
              <a:rPr lang="en-US" altLang="ko-KR" sz="3200" dirty="0">
                <a:latin typeface="맑은 고딕"/>
                <a:ea typeface="맑은 고딕"/>
              </a:rPr>
              <a:t>X)</a:t>
            </a:r>
            <a:endParaRPr lang="ko-KR" altLang="en-US" sz="3200" dirty="0"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8A4AFA-92F3-88CA-5D18-F28CBF06CA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EF762113-5BE9-9218-7038-C9C0ABB8D7BE}"/>
              </a:ext>
            </a:extLst>
          </p:cNvPr>
          <p:cNvSpPr txBox="1"/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ko-KR" altLang="en-US" sz="18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>
                <a:effectLst/>
              </a:rPr>
              <a:t>2025-2</a:t>
            </a:r>
            <a:r>
              <a:rPr lang="ko-KR" altLang="en-US" sz="1800" b="1">
                <a:effectLst/>
              </a:rPr>
              <a:t>학기 세종창의학기제</a:t>
            </a:r>
            <a:endParaRPr lang="ko-KR" altLang="en-US" sz="1800" b="1"/>
          </a:p>
        </p:txBody>
      </p:sp>
      <p:sp>
        <p:nvSpPr>
          <p:cNvPr id="11" name="가로 글상자 10">
            <a:extLst>
              <a:ext uri="{FF2B5EF4-FFF2-40B4-BE49-F238E27FC236}">
                <a16:creationId xmlns:a16="http://schemas.microsoft.com/office/drawing/2014/main" id="{819122CA-828B-9C2A-DE3B-AF0DBD8D807C}"/>
              </a:ext>
            </a:extLst>
          </p:cNvPr>
          <p:cNvSpPr txBox="1"/>
          <p:nvPr/>
        </p:nvSpPr>
        <p:spPr>
          <a:xfrm>
            <a:off x="4238037" y="2256506"/>
            <a:ext cx="4991805" cy="36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43FC83-F29A-6A63-7695-E9454FC247D9}"/>
              </a:ext>
            </a:extLst>
          </p:cNvPr>
          <p:cNvSpPr/>
          <p:nvPr/>
        </p:nvSpPr>
        <p:spPr>
          <a:xfrm>
            <a:off x="8276670" y="3429000"/>
            <a:ext cx="5876478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 algn="l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주인공의 답변 대기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r>
              <a:rPr lang="ko-KR" altLang="en-US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주인공의 답변에 댓글 </a:t>
            </a:r>
            <a:r>
              <a:rPr lang="en-US" altLang="ko-KR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&amp;</a:t>
            </a:r>
            <a:r>
              <a:rPr lang="ko-KR" altLang="en-US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ko-KR" altLang="en-US" sz="1200" b="0" i="0" strike="noStrike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이모티콘을</a:t>
            </a:r>
            <a:r>
              <a:rPr lang="ko-KR" altLang="en-US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통한 상호작용</a:t>
            </a: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r>
              <a:rPr lang="en-US" altLang="ko-KR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-</a:t>
            </a:r>
            <a:r>
              <a:rPr lang="ko-KR" altLang="en-US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  이전 답변 기록 </a:t>
            </a:r>
            <a:r>
              <a:rPr lang="en-US" altLang="ko-KR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preview</a:t>
            </a:r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B3519A-6274-7DCF-405D-1F88E0650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41" y="2256506"/>
            <a:ext cx="1614529" cy="3627826"/>
          </a:xfrm>
          <a:prstGeom prst="rect">
            <a:avLst/>
          </a:prstGeom>
        </p:spPr>
      </p:pic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C1E766-20B4-619A-2207-4DCA3E35E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167" y="2256506"/>
            <a:ext cx="1599788" cy="3627826"/>
          </a:xfrm>
          <a:prstGeom prst="rect">
            <a:avLst/>
          </a:prstGeom>
        </p:spPr>
      </p:pic>
      <p:pic>
        <p:nvPicPr>
          <p:cNvPr id="10" name="그림 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40CB45-BBE5-EABB-9D0E-19BA5471E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552" y="2256506"/>
            <a:ext cx="1629322" cy="3627826"/>
          </a:xfrm>
          <a:prstGeom prst="rect">
            <a:avLst/>
          </a:prstGeom>
        </p:spPr>
      </p:pic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CF9055-AEE7-996A-B7D6-5A36FE66AA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4389" y="2276741"/>
            <a:ext cx="1621047" cy="362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7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defRPr/>
            </a:pPr>
            <a:r>
              <a:rPr lang="ko-KR" altLang="en-US" sz="3200" dirty="0">
                <a:latin typeface="맑은 고딕"/>
                <a:ea typeface="맑은 고딕"/>
              </a:rPr>
              <a:t>기록 화면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/>
          <p:cNvSpPr txBox="1"/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ko-KR" altLang="en-US" sz="18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>
                <a:effectLst/>
              </a:rPr>
              <a:t>2025-2</a:t>
            </a:r>
            <a:r>
              <a:rPr lang="ko-KR" altLang="en-US" sz="1800" b="1">
                <a:effectLst/>
              </a:rPr>
              <a:t>학기 세종창의학기제</a:t>
            </a:r>
            <a:endParaRPr lang="ko-KR" altLang="en-US" sz="1800" b="1"/>
          </a:p>
        </p:txBody>
      </p:sp>
      <p:sp>
        <p:nvSpPr>
          <p:cNvPr id="11" name="가로 글상자 10"/>
          <p:cNvSpPr txBox="1"/>
          <p:nvPr/>
        </p:nvSpPr>
        <p:spPr>
          <a:xfrm>
            <a:off x="4238037" y="2256506"/>
            <a:ext cx="4991805" cy="36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821322" y="3429000"/>
            <a:ext cx="2544187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 algn="l">
              <a:buFontTx/>
              <a:buChar char="-"/>
              <a:defRPr/>
            </a:pPr>
            <a:r>
              <a:rPr lang="ko-KR" altLang="en-US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이전 질문 </a:t>
            </a:r>
            <a:r>
              <a:rPr lang="en-US" altLang="ko-KR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&amp;</a:t>
            </a:r>
            <a:r>
              <a:rPr lang="ko-KR" altLang="en-US" sz="12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답변 기록 조회</a:t>
            </a: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–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이전 댓글 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&amp;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이모티콘 조회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-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월별 활동 조회</a:t>
            </a: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</p:txBody>
      </p:sp>
      <p:pic>
        <p:nvPicPr>
          <p:cNvPr id="6" name="그림 5" descr="스크린샷, 텍스트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A3D576-CB5F-EBDC-3468-41748CDB9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05" y="2084184"/>
            <a:ext cx="1733139" cy="3867035"/>
          </a:xfrm>
          <a:prstGeom prst="rect">
            <a:avLst/>
          </a:prstGeom>
        </p:spPr>
      </p:pic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659502-A539-1915-8DFB-0F689710D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2454" y="2084183"/>
            <a:ext cx="1758226" cy="386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6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E3C4-9083-A82B-25B1-766EA0E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CCBC3-0481-F68C-1FCE-EE4DB4AB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defRPr/>
            </a:pPr>
            <a:r>
              <a:rPr lang="ko-KR" altLang="en-US" sz="3200" dirty="0">
                <a:latin typeface="맑은 고딕"/>
                <a:ea typeface="맑은 고딕"/>
              </a:rPr>
              <a:t>내 정보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15557D-B208-4415-2990-D663EA06BD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0DE653F8-1AEA-E23B-4486-D1E4DECEF52D}"/>
              </a:ext>
            </a:extLst>
          </p:cNvPr>
          <p:cNvSpPr txBox="1"/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ko-KR" altLang="en-US" sz="18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>
                <a:effectLst/>
              </a:rPr>
              <a:t>2025-2</a:t>
            </a:r>
            <a:r>
              <a:rPr lang="ko-KR" altLang="en-US" sz="1800" b="1">
                <a:effectLst/>
              </a:rPr>
              <a:t>학기 세종창의학기제</a:t>
            </a:r>
            <a:endParaRPr lang="ko-KR" altLang="en-US" sz="1800" b="1"/>
          </a:p>
        </p:txBody>
      </p:sp>
      <p:sp>
        <p:nvSpPr>
          <p:cNvPr id="11" name="가로 글상자 10">
            <a:extLst>
              <a:ext uri="{FF2B5EF4-FFF2-40B4-BE49-F238E27FC236}">
                <a16:creationId xmlns:a16="http://schemas.microsoft.com/office/drawing/2014/main" id="{69CF7B53-F1CE-667D-617A-C169AAC46DA0}"/>
              </a:ext>
            </a:extLst>
          </p:cNvPr>
          <p:cNvSpPr txBox="1"/>
          <p:nvPr/>
        </p:nvSpPr>
        <p:spPr>
          <a:xfrm>
            <a:off x="4238037" y="2256506"/>
            <a:ext cx="4991805" cy="36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017D9E-47B7-0C2F-0F4F-52F7094EF3B6}"/>
              </a:ext>
            </a:extLst>
          </p:cNvPr>
          <p:cNvSpPr/>
          <p:nvPr/>
        </p:nvSpPr>
        <p:spPr>
          <a:xfrm>
            <a:off x="7668922" y="3295750"/>
            <a:ext cx="2544187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 algn="l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성별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,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가족 내 역할 수정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–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 알림 기능 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on/off</a:t>
            </a:r>
          </a:p>
          <a:p>
            <a:pPr lvl="0" algn="l">
              <a:defRPr/>
            </a:pP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가족 초대 코드 조회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로그아웃 및 회원 탈퇴</a:t>
            </a: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</p:txBody>
      </p:sp>
      <p:pic>
        <p:nvPicPr>
          <p:cNvPr id="7" name="그림 6" descr="텍스트, 스크린샷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7295F4-CE6B-6AF6-7702-295131583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05" y="2104503"/>
            <a:ext cx="1630919" cy="3664656"/>
          </a:xfrm>
          <a:prstGeom prst="rect">
            <a:avLst/>
          </a:prstGeom>
        </p:spPr>
      </p:pic>
      <p:pic>
        <p:nvPicPr>
          <p:cNvPr id="10" name="그림 9" descr="텍스트, 스크린샷, 인간의 얼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265E6C-BA32-CD33-08E3-A12A943C5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188" y="2104503"/>
            <a:ext cx="1635384" cy="366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09577-233C-F381-7F2B-B3CA99D3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2EA89-AFA2-7655-209F-2A55C7FC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defRPr/>
            </a:pPr>
            <a:r>
              <a:rPr lang="ko-KR" altLang="en-US" sz="3200" dirty="0">
                <a:latin typeface="맑은 고딕"/>
                <a:ea typeface="맑은 고딕"/>
              </a:rPr>
              <a:t>데이터베이스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7C0F71-D04E-6E1B-F077-75D3A26552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39FA774D-3B67-A4A2-11BB-D51B9F9E69A0}"/>
              </a:ext>
            </a:extLst>
          </p:cNvPr>
          <p:cNvSpPr txBox="1"/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ko-KR" altLang="en-US" sz="18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>
                <a:effectLst/>
              </a:rPr>
              <a:t>2025-2</a:t>
            </a:r>
            <a:r>
              <a:rPr lang="ko-KR" altLang="en-US" sz="1800" b="1">
                <a:effectLst/>
              </a:rPr>
              <a:t>학기 세종창의학기제</a:t>
            </a:r>
            <a:endParaRPr lang="ko-KR" altLang="en-US" sz="1800" b="1"/>
          </a:p>
        </p:txBody>
      </p:sp>
      <p:sp>
        <p:nvSpPr>
          <p:cNvPr id="11" name="가로 글상자 10">
            <a:extLst>
              <a:ext uri="{FF2B5EF4-FFF2-40B4-BE49-F238E27FC236}">
                <a16:creationId xmlns:a16="http://schemas.microsoft.com/office/drawing/2014/main" id="{0AD49596-E938-05FE-EB64-90DBEC1970AA}"/>
              </a:ext>
            </a:extLst>
          </p:cNvPr>
          <p:cNvSpPr txBox="1"/>
          <p:nvPr/>
        </p:nvSpPr>
        <p:spPr>
          <a:xfrm>
            <a:off x="4238037" y="2256506"/>
            <a:ext cx="4991805" cy="36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07640D-36D5-543C-0658-22DF7A0791FD}"/>
              </a:ext>
            </a:extLst>
          </p:cNvPr>
          <p:cNvSpPr/>
          <p:nvPr/>
        </p:nvSpPr>
        <p:spPr>
          <a:xfrm>
            <a:off x="7668922" y="3295750"/>
            <a:ext cx="4039073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 algn="l">
              <a:buFontTx/>
              <a:buChar char="-"/>
              <a:defRPr/>
            </a:pP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확장성 고려 질문 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Template/Instance/Assignment 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분리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–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 질문 고도화를 위한 </a:t>
            </a:r>
            <a:r>
              <a:rPr lang="en-US" altLang="ko-KR" sz="1200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UserProfile</a:t>
            </a:r>
            <a:r>
              <a:rPr lang="en-US" altLang="ko-KR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/</a:t>
            </a:r>
            <a:r>
              <a:rPr lang="en-US" altLang="ko-KR" sz="1200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AnswerAnalysis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운용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171450" lvl="0" indent="-171450" algn="l">
              <a:buFontTx/>
              <a:buChar char="-"/>
              <a:defRPr/>
            </a:pPr>
            <a:r>
              <a:rPr lang="ko-KR" altLang="en-US" sz="1200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데베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필요할까 싶어서 넣어뒀는데 </a:t>
            </a:r>
            <a:r>
              <a:rPr lang="ko-KR" altLang="en-US" sz="1200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필요할진</a:t>
            </a:r>
            <a:r>
              <a:rPr lang="ko-KR" altLang="en-US" sz="12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모르겠다</a:t>
            </a:r>
            <a:endParaRPr lang="en-US" altLang="ko-KR" sz="12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endParaRPr lang="en-US" altLang="ko-KR" sz="12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68C31BE-175E-6F37-734F-FA9D662C46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 descr="스크린샷, 도표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9C870F-AF88-2D10-50D9-60B3989A5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05" y="1774810"/>
            <a:ext cx="5967595" cy="410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defRPr/>
            </a:pPr>
            <a:r>
              <a:rPr lang="en-US" altLang="ko-KR" sz="3200">
                <a:latin typeface="맑은 고딕"/>
                <a:ea typeface="맑은 고딕"/>
              </a:rPr>
              <a:t>AI </a:t>
            </a:r>
            <a:r>
              <a:rPr lang="ko-KR" altLang="en-US" sz="3200">
                <a:latin typeface="맑은 고딕"/>
                <a:ea typeface="맑은 고딕"/>
              </a:rPr>
              <a:t>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/>
          <p:cNvSpPr txBox="1"/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ko-KR" altLang="en-US" sz="18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>
                <a:effectLst/>
              </a:rPr>
              <a:t>2025-2</a:t>
            </a:r>
            <a:r>
              <a:rPr lang="ko-KR" altLang="en-US" sz="1800" b="1">
                <a:effectLst/>
              </a:rPr>
              <a:t>학기 세종창의학기제</a:t>
            </a:r>
            <a:endParaRPr lang="ko-KR" altLang="en-US" sz="1800" b="1"/>
          </a:p>
        </p:txBody>
      </p:sp>
      <p:sp>
        <p:nvSpPr>
          <p:cNvPr id="11" name="가로 글상자 10"/>
          <p:cNvSpPr txBox="1"/>
          <p:nvPr/>
        </p:nvSpPr>
        <p:spPr>
          <a:xfrm>
            <a:off x="4238037" y="2256506"/>
            <a:ext cx="4991805" cy="36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977467" y="3193344"/>
            <a:ext cx="6214533" cy="1708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lvl="0" indent="-342900" algn="l">
              <a:buFontTx/>
              <a:buChar char="-"/>
              <a:defRPr/>
            </a:pP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OpenAI API 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활용 파생 질문 생성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(gpt5.1 / embedding3)</a:t>
            </a:r>
          </a:p>
          <a:p>
            <a:pPr marL="342900" lvl="0" indent="-342900" algn="l">
              <a:buFontTx/>
              <a:buChar char="-"/>
              <a:defRPr/>
            </a:pPr>
            <a:endParaRPr lang="en-US" altLang="ko-KR" sz="1500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342900" lvl="0" indent="-342900" algn="l">
              <a:buFontTx/>
              <a:buChar char="-"/>
              <a:defRPr/>
            </a:pPr>
            <a:r>
              <a:rPr lang="en-US" altLang="ko-KR" sz="15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RAG</a:t>
            </a:r>
            <a:r>
              <a:rPr lang="ko-KR" altLang="en-US" sz="15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활용 검색 증강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(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중복 질문 방지 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/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과거 기억 반영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)</a:t>
            </a:r>
            <a:endParaRPr lang="en-US" altLang="ko-KR" sz="15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342900" lvl="0" indent="-342900" algn="l">
              <a:buFontTx/>
              <a:buChar char="-"/>
              <a:defRPr/>
            </a:pPr>
            <a:endParaRPr lang="en-US" altLang="ko-KR" sz="15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marL="342900" lvl="0" indent="-342900" algn="l">
              <a:buFontTx/>
              <a:buChar char="-"/>
              <a:defRPr/>
            </a:pP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답변 벡터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DB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화 기반 유사도검색 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(</a:t>
            </a:r>
            <a:r>
              <a:rPr lang="en-US" altLang="ko-KR" sz="1500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ChormaDB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)</a:t>
            </a:r>
          </a:p>
          <a:p>
            <a:pPr marL="342900" lvl="0" indent="-342900" algn="l">
              <a:buFontTx/>
              <a:buChar char="-"/>
              <a:defRPr/>
            </a:pPr>
            <a:endParaRPr lang="en-US" altLang="ko-KR" sz="15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  <a:p>
            <a:pPr lvl="0" algn="l">
              <a:defRPr/>
            </a:pPr>
            <a:r>
              <a:rPr lang="en-US" altLang="ko-KR" sz="15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-</a:t>
            </a:r>
            <a:r>
              <a:rPr lang="ko-KR" altLang="en-US" sz="1500" b="0" i="0" strike="noStrike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 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 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질문 대상자 가중치 기반 </a:t>
            </a:r>
            <a:r>
              <a:rPr lang="ko-KR" altLang="en-US" sz="1500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비복원</a:t>
            </a:r>
            <a:r>
              <a:rPr lang="ko-KR" altLang="en-US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 추출 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(</a:t>
            </a:r>
            <a:r>
              <a:rPr lang="en-US" altLang="ko-KR" sz="1500" dirty="0" err="1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BootStrap</a:t>
            </a:r>
            <a:r>
              <a:rPr lang="en-US" altLang="ko-KR" sz="1500" dirty="0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)</a:t>
            </a:r>
            <a:endParaRPr lang="en-US" altLang="ko-KR" sz="1500" b="0" i="0" strike="noStrike" dirty="0">
              <a:solidFill>
                <a:srgbClr val="000000">
                  <a:alpha val="100000"/>
                </a:srgbClr>
              </a:solidFill>
              <a:latin typeface="나눔고딕"/>
              <a:ea typeface="나눔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55B88-B3C0-D4DD-52E4-A41BE44B79B6}"/>
              </a:ext>
            </a:extLst>
          </p:cNvPr>
          <p:cNvSpPr txBox="1"/>
          <p:nvPr/>
        </p:nvSpPr>
        <p:spPr>
          <a:xfrm>
            <a:off x="1134533" y="3810000"/>
            <a:ext cx="26212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파생질문이랑 답변 분석</a:t>
            </a:r>
            <a:endParaRPr kumimoji="1" lang="en-US" altLang="ko-KR" dirty="0"/>
          </a:p>
          <a:p>
            <a:r>
              <a:rPr kumimoji="1" lang="ko-KR" altLang="en-US" dirty="0"/>
              <a:t>시각화가 </a:t>
            </a:r>
            <a:r>
              <a:rPr kumimoji="1" lang="ko-KR" altLang="en-US" dirty="0" err="1"/>
              <a:t>될려나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그림을 </a:t>
            </a:r>
            <a:r>
              <a:rPr kumimoji="1" lang="ko-KR" altLang="en-US" dirty="0" err="1"/>
              <a:t>그려와야하나</a:t>
            </a:r>
            <a:endParaRPr kumimoji="1" lang="en-US" altLang="ko-KR" dirty="0"/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5080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sz="3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참여학생별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총 학습시간 및 성과</a:t>
            </a: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3927820"/>
              </p:ext>
            </p:extLst>
          </p:nvPr>
        </p:nvGraphicFramePr>
        <p:xfrm>
          <a:off x="1154954" y="2704408"/>
          <a:ext cx="10251671" cy="32561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56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4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420"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학번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총 학습 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개인 성과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420">
                <a:tc>
                  <a:txBody>
                    <a:bodyPr/>
                    <a:lstStyle/>
                    <a:p>
                      <a:pPr lvl="0" rtl="0">
                        <a:defRPr/>
                      </a:pP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위승재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컴퓨터공학과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21011672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AI 기술과 앱 개발 전 과정을 혼자 수행하며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기획·프론트·백엔드·DB·AI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모델링 역량을 종합적으로 향상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 rtl="0"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이거 원래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있던건데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대충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참고하셈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65">
                <a:tc>
                  <a:txBody>
                    <a:bodyPr/>
                    <a:lstStyle/>
                    <a:p>
                      <a:pPr lvl="0" rtl="0"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정연준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컴퓨터공학과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21011665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66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649">
                <a:tc>
                  <a:txBody>
                    <a:bodyPr/>
                    <a:lstStyle/>
                    <a:p>
                      <a:pPr lvl="0" rtl="0"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박민수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바이오융합공학전공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21010730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66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AI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기술을 서비스에 알맞게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Fine-Tuning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하고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AI server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를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별도로 구축하여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AI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BE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의 종합적인 역량 향상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53">
                <a:tc>
                  <a:txBody>
                    <a:bodyPr/>
                    <a:lstStyle/>
                    <a:p>
                      <a:pPr lvl="0" rtl="0">
                        <a:defRPr/>
                      </a:pPr>
                      <a:endParaRPr lang="ko-KR" altLang="en-US" sz="140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373">
                <a:tc>
                  <a:txBody>
                    <a:bodyPr/>
                    <a:lstStyle/>
                    <a:p>
                      <a:pPr lvl="0" rtl="0">
                        <a:defRPr/>
                      </a:pPr>
                      <a:endParaRPr lang="ko-KR" altLang="en-US" sz="140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6" name="부제목 2"/>
          <p:cNvSpPr txBox="1">
            <a:spLocks/>
          </p:cNvSpPr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 dirty="0">
                <a:effectLst/>
              </a:rPr>
              <a:t>2025-2</a:t>
            </a:r>
            <a:r>
              <a:rPr lang="ko-KR" altLang="en-US" sz="1800" b="1" dirty="0">
                <a:effectLst/>
              </a:rPr>
              <a:t>학기 세종창의학기제</a:t>
            </a:r>
          </a:p>
        </p:txBody>
      </p:sp>
    </p:spTree>
    <p:extLst>
      <p:ext uri="{BB962C8B-B14F-4D97-AF65-F5344CB8AC3E}">
        <p14:creationId xmlns:p14="http://schemas.microsoft.com/office/powerpoint/2010/main" val="324541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기대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11376" y="2151708"/>
            <a:ext cx="8825659" cy="34163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ko-KR" alt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가족 단위 커뮤니티 형성 </a:t>
            </a:r>
            <a:r>
              <a:rPr lang="ko-KR" altLang="en-US" sz="1900" dirty="0">
                <a:latin typeface="맑은 고딕"/>
              </a:rPr>
              <a:t>→ 가족의 유대감 향상</a:t>
            </a:r>
            <a:endParaRPr lang="en-US" altLang="ko-KR" sz="1900" dirty="0">
              <a:latin typeface="맑은 고딕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ko-KR" sz="1900" dirty="0">
                <a:latin typeface="맑은 고딕"/>
              </a:rPr>
              <a:t>AI</a:t>
            </a:r>
            <a:r>
              <a:rPr lang="ko-KR" altLang="en-US" sz="1900" dirty="0">
                <a:latin typeface="맑은 고딕"/>
              </a:rPr>
              <a:t>기반 개인화 질문 생성 </a:t>
            </a:r>
            <a:r>
              <a:rPr lang="ko-KR" alt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→ </a:t>
            </a:r>
            <a:r>
              <a:rPr lang="ko-KR" alt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가족간의</a:t>
            </a:r>
            <a:r>
              <a:rPr lang="ko-KR" alt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 소통을 심화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ko-KR" alt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도메인 확장성 → 가족 단위를 넘어 특정 공동체로의 확장 가능성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ko-KR" alt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자기주도 학습 역량 강화 → </a:t>
            </a:r>
            <a:r>
              <a:rPr lang="ko-KR" altLang="en-US" sz="1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기획·설계·개발·배포</a:t>
            </a:r>
            <a:r>
              <a:rPr lang="ko-KR" alt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</a:rPr>
              <a:t> 경험</a:t>
            </a:r>
            <a:endParaRPr lang="en-US" altLang="ko-KR" sz="190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ko-KR" altLang="en-US" sz="1900" dirty="0">
                <a:latin typeface="맑은 고딕"/>
              </a:rPr>
              <a:t>진지하게 아이디어 </a:t>
            </a:r>
            <a:r>
              <a:rPr lang="ko-KR" altLang="en-US" sz="1900" dirty="0" err="1">
                <a:latin typeface="맑은 고딕"/>
              </a:rPr>
              <a:t>고갈남</a:t>
            </a:r>
            <a:endParaRPr lang="ko-KR" altLang="en-US" sz="190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0" y="6285986"/>
            <a:ext cx="437790" cy="437790"/>
          </a:xfrm>
          <a:prstGeom prst="rect">
            <a:avLst/>
          </a:prstGeom>
        </p:spPr>
      </p:pic>
      <p:sp>
        <p:nvSpPr>
          <p:cNvPr id="5" name="부제목 2"/>
          <p:cNvSpPr txBox="1">
            <a:spLocks/>
          </p:cNvSpPr>
          <p:nvPr/>
        </p:nvSpPr>
        <p:spPr>
          <a:xfrm>
            <a:off x="753699" y="6295863"/>
            <a:ext cx="11025435" cy="339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                                                                                                         </a:t>
            </a:r>
            <a:r>
              <a:rPr lang="en-US" altLang="ko-KR" sz="1800" b="1" dirty="0">
                <a:effectLst/>
              </a:rPr>
              <a:t>2025-2</a:t>
            </a:r>
            <a:r>
              <a:rPr lang="ko-KR" altLang="en-US" sz="1800" b="1" dirty="0">
                <a:effectLst/>
              </a:rPr>
              <a:t>학기 세종창의학기제</a:t>
            </a:r>
          </a:p>
        </p:txBody>
      </p:sp>
    </p:spTree>
    <p:extLst>
      <p:ext uri="{BB962C8B-B14F-4D97-AF65-F5344CB8AC3E}">
        <p14:creationId xmlns:p14="http://schemas.microsoft.com/office/powerpoint/2010/main" val="411155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MS Gothic"/>
        <a:font script="Hang" typeface="HY중고딕"/>
        <a:font script="Hans" typeface="YouYuan"/>
        <a:font script="Hant" typeface="Microsoft JhengHei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Gothic"/>
        <a:font script="Hang" typeface="HY중고딕"/>
        <a:font script="Hans" typeface="YouYuan"/>
        <a:font script="Hant" typeface="Microsoft JhengHei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MS Gothic"/>
        <a:font script="Hang" typeface="HY중고딕"/>
        <a:font script="Hans" typeface="YouYuan"/>
        <a:font script="Hant" typeface="Microsoft JhengHei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Gothic"/>
        <a:font script="Hang" typeface="HY중고딕"/>
        <a:font script="Hans" typeface="YouYuan"/>
        <a:font script="Hant" typeface="Microsoft JhengHei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441</Words>
  <Application>Microsoft Macintosh PowerPoint</Application>
  <PresentationFormat>와이드스크린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나눔고딕</vt:lpstr>
      <vt:lpstr>맑은 고딕</vt:lpstr>
      <vt:lpstr>Arial</vt:lpstr>
      <vt:lpstr>Century Gothic</vt:lpstr>
      <vt:lpstr>Wingdings 3</vt:lpstr>
      <vt:lpstr>이온(회의실)</vt:lpstr>
      <vt:lpstr>2025-2학기 세종창의학기제 최종성과보고 창의과제: 질문 한 줄로 하루 5분, 가족다운 순간을 되찾는                     모바일 앱 기반 플랫폼 구축</vt:lpstr>
      <vt:lpstr>회원가입&amp;로그인 화면</vt:lpstr>
      <vt:lpstr>메인 화면 (오늘의 주인공 O)</vt:lpstr>
      <vt:lpstr>메인 화면 (오늘의 주인공 X)</vt:lpstr>
      <vt:lpstr>기록 화면</vt:lpstr>
      <vt:lpstr>내 정보 화면</vt:lpstr>
      <vt:lpstr>데이터베이스</vt:lpstr>
      <vt:lpstr>AI 기능</vt:lpstr>
      <vt:lpstr>참여학생별 총 학습시간 및 성과</vt:lpstr>
      <vt:lpstr>기대 효과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창의과제명 :</dc:title>
  <dc:creator>Windows User</dc:creator>
  <cp:lastModifiedBy>박민수</cp:lastModifiedBy>
  <cp:revision>45</cp:revision>
  <dcterms:created xsi:type="dcterms:W3CDTF">2018-06-04T06:53:30Z</dcterms:created>
  <dcterms:modified xsi:type="dcterms:W3CDTF">2025-12-05T10:15:49Z</dcterms:modified>
  <cp:version/>
</cp:coreProperties>
</file>